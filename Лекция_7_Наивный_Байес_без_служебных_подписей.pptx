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e2ac7c5d448a3" /><Relationship Type="http://schemas.openxmlformats.org/officeDocument/2006/relationships/extended-properties" Target="/docProps/app.xml" Id="R89b00729cb2240e6" /><Relationship Type="http://schemas.openxmlformats.org/officeDocument/2006/relationships/officeDocument" Target="/ppt/presentation.xml" Id="R207d4959b9674a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d1021565a24245"/>
  </p:sldMasterIdLst>
  <p:notesMasterIdLst>
    <p:notesMasterId xmlns:r="http://schemas.openxmlformats.org/officeDocument/2006/relationships" r:id="Rfcff0bc3ad2a43ab"/>
  </p:notesMasterIdLst>
  <p:sldIdLst>
    <p:sldId xmlns:r="http://schemas.openxmlformats.org/officeDocument/2006/relationships" id="256" r:id="Rc353df7d940447e3"/>
    <p:sldId xmlns:r="http://schemas.openxmlformats.org/officeDocument/2006/relationships" id="257" r:id="Rf56dfc6fbc2840f0"/>
    <p:sldId xmlns:r="http://schemas.openxmlformats.org/officeDocument/2006/relationships" id="258" r:id="R511241ecea8f4012"/>
    <p:sldId xmlns:r="http://schemas.openxmlformats.org/officeDocument/2006/relationships" id="259" r:id="Rc4e9bb8755ab4b56"/>
    <p:sldId xmlns:r="http://schemas.openxmlformats.org/officeDocument/2006/relationships" id="260" r:id="R46d1dbff48374ec3"/>
    <p:sldId xmlns:r="http://schemas.openxmlformats.org/officeDocument/2006/relationships" id="261" r:id="R8e3f007b0b5a4fc7"/>
    <p:sldId xmlns:r="http://schemas.openxmlformats.org/officeDocument/2006/relationships" id="262" r:id="R563266553a0946b2"/>
    <p:sldId xmlns:r="http://schemas.openxmlformats.org/officeDocument/2006/relationships" id="263" r:id="Rf50d1a3deeaa4fb3"/>
    <p:sldId xmlns:r="http://schemas.openxmlformats.org/officeDocument/2006/relationships" id="264" r:id="Rd4cd6c4bd137424b"/>
    <p:sldId xmlns:r="http://schemas.openxmlformats.org/officeDocument/2006/relationships" id="265" r:id="R0c27337becc04a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e627dcfac499d" /><Relationship Type="http://schemas.openxmlformats.org/officeDocument/2006/relationships/slideMaster" Target="/ppt/slideMasters/slideMaster1.xml" Id="R69d1021565a24245" /><Relationship Type="http://schemas.openxmlformats.org/officeDocument/2006/relationships/notesMaster" Target="/ppt/notesMasters/notesMaster1.xml" Id="Rfcff0bc3ad2a43ab" /><Relationship Type="http://schemas.openxmlformats.org/officeDocument/2006/relationships/presProps" Target="/ppt/presProps.xml" Id="R16b573a74a9a42e3" /><Relationship Type="http://schemas.openxmlformats.org/officeDocument/2006/relationships/tableStyles" Target="/ppt/tableStyles.xml" Id="Rc8425398015c41c8" /><Relationship Type="http://schemas.openxmlformats.org/officeDocument/2006/relationships/slide" Target="/ppt/slides/slide1.xml" Id="Rc353df7d940447e3" /><Relationship Type="http://schemas.openxmlformats.org/officeDocument/2006/relationships/slide" Target="/ppt/slides/slide2.xml" Id="Rf56dfc6fbc2840f0" /><Relationship Type="http://schemas.openxmlformats.org/officeDocument/2006/relationships/slide" Target="/ppt/slides/slide3.xml" Id="R511241ecea8f4012" /><Relationship Type="http://schemas.openxmlformats.org/officeDocument/2006/relationships/slide" Target="/ppt/slides/slide4.xml" Id="Rc4e9bb8755ab4b56" /><Relationship Type="http://schemas.openxmlformats.org/officeDocument/2006/relationships/slide" Target="/ppt/slides/slide5.xml" Id="R46d1dbff48374ec3" /><Relationship Type="http://schemas.openxmlformats.org/officeDocument/2006/relationships/slide" Target="/ppt/slides/slide6.xml" Id="R8e3f007b0b5a4fc7" /><Relationship Type="http://schemas.openxmlformats.org/officeDocument/2006/relationships/slide" Target="/ppt/slides/slide7.xml" Id="R563266553a0946b2" /><Relationship Type="http://schemas.openxmlformats.org/officeDocument/2006/relationships/slide" Target="/ppt/slides/slide8.xml" Id="Rf50d1a3deeaa4fb3" /><Relationship Type="http://schemas.openxmlformats.org/officeDocument/2006/relationships/slide" Target="/ppt/slides/slide9.xml" Id="Rd4cd6c4bd137424b" /><Relationship Type="http://schemas.openxmlformats.org/officeDocument/2006/relationships/slide" Target="/ppt/slides/slide10.xml" Id="R0c27337becc04a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1ac2ff1f2f4d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e082c34bf4cb6" /><Relationship Type="http://schemas.openxmlformats.org/officeDocument/2006/relationships/notesMaster" Target="/ppt/notesMasters/notesMaster1.xml" Id="R758627e68b1241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cf1b0306a64925" /><Relationship Type="http://schemas.openxmlformats.org/officeDocument/2006/relationships/notesMaster" Target="/ppt/notesMasters/notesMaster1.xml" Id="Rc471a303022144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fc702c2d3c4510" /><Relationship Type="http://schemas.openxmlformats.org/officeDocument/2006/relationships/notesMaster" Target="/ppt/notesMasters/notesMaster1.xml" Id="Rad6ed06e39d44c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430a26dc014f92" /><Relationship Type="http://schemas.openxmlformats.org/officeDocument/2006/relationships/notesMaster" Target="/ppt/notesMasters/notesMaster1.xml" Id="R2d685e11ae4e49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c5784d00634264" /><Relationship Type="http://schemas.openxmlformats.org/officeDocument/2006/relationships/notesMaster" Target="/ppt/notesMasters/notesMaster1.xml" Id="Rb915b9831e8340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2e2871a30449fc" /><Relationship Type="http://schemas.openxmlformats.org/officeDocument/2006/relationships/notesMaster" Target="/ppt/notesMasters/notesMaster1.xml" Id="R10c2854a116e4f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51b409b09c4cdf" /><Relationship Type="http://schemas.openxmlformats.org/officeDocument/2006/relationships/notesMaster" Target="/ppt/notesMasters/notesMaster1.xml" Id="R0d2d8c7fa39547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3e6089af7f46f6" /><Relationship Type="http://schemas.openxmlformats.org/officeDocument/2006/relationships/notesMaster" Target="/ppt/notesMasters/notesMaster1.xml" Id="Rb8fc3d242fef45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36b91560164d3e" /><Relationship Type="http://schemas.openxmlformats.org/officeDocument/2006/relationships/notesMaster" Target="/ppt/notesMasters/notesMaster1.xml" Id="Re61996c67b0946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c53ebe7bfd4b3d" /><Relationship Type="http://schemas.openxmlformats.org/officeDocument/2006/relationships/notesMaster" Target="/ppt/notesMasters/notesMaster1.xml" Id="Rc686117764b649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d361ca1274e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5e56a0e8f4d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544c0380741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8665c3a5b4e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9bf20db1943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bdce096bc40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4A6031-62D6-47F4-B7C7-133951729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A9E7FF-E64A-4BB1-AC42-E18CD3404C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040595-5A90-4BCA-B280-36C4DA764E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4813B-13B4-4FE9-8C80-98DE8FDCC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6F8810-5438-47BC-96AD-55EBDEC436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30BA1B-EA34-4824-BCDB-362A60BDB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8AEA8F-253E-4F84-B5F6-843DFEDD2D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5D2D43-A749-4473-B88B-26EE2FAFB0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FB824F-9105-49B5-8307-107759322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AEBC34-124F-4EF7-808C-F277936400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013f1d4ee5439a" /><Relationship Type="http://schemas.openxmlformats.org/officeDocument/2006/relationships/slideLayout" Target="/ppt/slideLayouts/slideLayout1.xml" Id="Ra0d4cf8954574039" /><Relationship Type="http://schemas.openxmlformats.org/officeDocument/2006/relationships/slideLayout" Target="/ppt/slideLayouts/slideLayout2.xml" Id="R5cfd8d7e67c34de2" /><Relationship Type="http://schemas.openxmlformats.org/officeDocument/2006/relationships/slideLayout" Target="/ppt/slideLayouts/slideLayout3.xml" Id="R2e70b3d8770f4a02" /><Relationship Type="http://schemas.openxmlformats.org/officeDocument/2006/relationships/slideLayout" Target="/ppt/slideLayouts/slideLayout4.xml" Id="Rc79230fd5af342d7" /><Relationship Type="http://schemas.openxmlformats.org/officeDocument/2006/relationships/slideLayout" Target="/ppt/slideLayouts/slideLayout5.xml" Id="Rb5dda9e1acaa4ad9" /><Relationship Type="http://schemas.openxmlformats.org/officeDocument/2006/relationships/slideLayout" Target="/ppt/slideLayouts/slideLayout6.xml" Id="Rd70ed8adc64d4d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4cf8954574039"/>
    <p:sldLayoutId xmlns:r="http://schemas.openxmlformats.org/officeDocument/2006/relationships" id="2147483650" r:id="R5cfd8d7e67c34de2"/>
    <p:sldLayoutId xmlns:r="http://schemas.openxmlformats.org/officeDocument/2006/relationships" id="2147483651" r:id="R2e70b3d8770f4a02"/>
    <p:sldLayoutId xmlns:r="http://schemas.openxmlformats.org/officeDocument/2006/relationships" id="2147483652" r:id="Rc79230fd5af342d7"/>
    <p:sldLayoutId xmlns:r="http://schemas.openxmlformats.org/officeDocument/2006/relationships" id="2147483653" r:id="Rb5dda9e1acaa4ad9"/>
    <p:sldLayoutId xmlns:r="http://schemas.openxmlformats.org/officeDocument/2006/relationships" id="2147483654" r:id="Rd70ed8adc64d4d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941b02a064605" /><Relationship Type="http://schemas.openxmlformats.org/officeDocument/2006/relationships/notesSlide" Target="/ppt/notesSlides/notesSlide1.xml" Id="R8fee30533a774a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9ee5a2f524407" /><Relationship Type="http://schemas.openxmlformats.org/officeDocument/2006/relationships/notesSlide" Target="/ppt/notesSlides/notesSlide2.xml" Id="R99f3a73735db48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ae75dc152476a" /><Relationship Type="http://schemas.openxmlformats.org/officeDocument/2006/relationships/notesSlide" Target="/ppt/notesSlides/notesSlide3.xml" Id="R4b9da2f091394d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8bd6c2ea04840" /><Relationship Type="http://schemas.openxmlformats.org/officeDocument/2006/relationships/notesSlide" Target="/ppt/notesSlides/notesSlide4.xml" Id="R0f5db8acc60642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fa6ca3bff4834" /><Relationship Type="http://schemas.openxmlformats.org/officeDocument/2006/relationships/notesSlide" Target="/ppt/notesSlides/notesSlide5.xml" Id="Rd0e9b54035af4f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537fe13a54997" /><Relationship Type="http://schemas.openxmlformats.org/officeDocument/2006/relationships/notesSlide" Target="/ppt/notesSlides/notesSlide6.xml" Id="Rf026da3a245f4e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5b7e296054885" /><Relationship Type="http://schemas.openxmlformats.org/officeDocument/2006/relationships/notesSlide" Target="/ppt/notesSlides/notesSlide7.xml" Id="R34e2011ab33748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1051473c34f28" /><Relationship Type="http://schemas.openxmlformats.org/officeDocument/2006/relationships/notesSlide" Target="/ppt/notesSlides/notesSlide8.xml" Id="Rcdd1adb5b79549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f8529828c4114" /><Relationship Type="http://schemas.openxmlformats.org/officeDocument/2006/relationships/notesSlide" Target="/ppt/notesSlides/notesSlide9.xml" Id="Rc9aac22a956346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f1c7586d44a8e" /><Relationship Type="http://schemas.openxmlformats.org/officeDocument/2006/relationships/notesSlide" Target="/ppt/notesSlides/notesSlide10.xml" Id="R48d3ed6bcfca4b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EAAF89-4E17-4831-B057-56296DE2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CE05A-3A6A-4926-A455-03BE2E59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Лекция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57ABD-5FA8-4746-AF9A-F93E989E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14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Наивный байесовский</a:t>
            </a:r>
          </a:p>
          <a:p xmlns:a="http://schemas.openxmlformats.org/drawingml/2006/main">
            <a:pPr algn="l">
              <a:defRPr sz="360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классификатор и 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BAA3B-F052-4DD9-9A7B-54872636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B7269-AD0A-481A-B3DD-5BCAF196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2EBB9-5372-4B6D-89B2-5356012C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Вероятности и теорема Байеса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5A367-F63C-4A73-A8D4-6CB3C88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EE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EF352-9DC7-4263-AF37-259C3BB2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6C3C4-52D0-4A66-81FC-50233AA0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Наивное допущение и варианты 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39004-01D6-48EA-8553-1D3802FE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CEF80-9DDB-46CE-B564-5728F304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B450E-020F-49F3-AF0C-BF123A71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Предобработка и Bag of Words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DADD2-E4A1-468A-9A5A-80FB1540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7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28F35-C541-4489-8A08-7F835AA9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387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D983E-5D93-45E4-815E-33096387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48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TF-IDF, утечка данных и вывод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42672-DEE2-4932-815E-6819895E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1920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4E8E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F1FCE-99AF-48AA-96E0-2112213D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4DD7E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3150" b="1" i="0">
                <a:solidFill>
                  <a:srgbClr val="4DD7E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 i="0">
                <a:solidFill>
                  <a:srgbClr val="4DD7E5"/>
                </a:solidFill>
                <a:latin typeface="Arial Unicode MS"/>
                <a:ea typeface="Arial Unicode MS"/>
                <a:cs typeface="Arial Unicode MS"/>
              </a:rPr>
              <a:t>P(C | X)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98BC5-6820-4CE6-974D-EE909294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слова → числа → вероятность → класс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1D768-00A8-4678-BF9E-6CEB2513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57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Текст становится набором признаков, а модель сравнивает вероятности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813874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CEC83-C263-4455-8894-4F0DC1A5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976E6-7453-4C3D-9A37-5D16D522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Вероятностный подход к классификации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74DDB-92AA-4B9D-B4C6-4AB82663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B2E2D-9D57-46DE-A3DE-F38FD9EA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>
            <a:defPPr algn="ctr">
              <a:defRPr sz="195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Модель оценивает вероятность каждого класса и выбирает класс с наибольшим значением.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ED19B-8D0E-4C11-B43C-5CC67C38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25C31-BAE8-4682-BBEB-6C41DD3B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E2943-7CDD-45FD-8CAC-E020EE92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622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«Free prize now»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8A222-9373-4EB7-8F27-A3D7352C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>
            <a:defPPr algn="ctr">
              <a:defRPr sz="30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51BEF-8264-4B8E-A604-8FAAFEE9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C9E67-97C1-4694-ACA0-8B9E7AB6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09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FA710-A0E3-4E80-9380-4D6D9D27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free • prize •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D30F3-2140-45E3-B74C-CC79015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>
            <a:defPPr algn="ctr">
              <a:defRPr sz="30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65AB9-99D9-44C9-A4A3-4EA0657F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EE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769D7-B286-4F30-8F04-F256158E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Вероятности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E0349-3A39-4B00-9D6A-6C43ED23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622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P(spam)=0,93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4B332-3E5E-4BD7-AF31-02EB4002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86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>
            <a:defPPr algn="ctr">
              <a:defRPr sz="30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AA821-58FE-4599-A94C-0F2376B8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1047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7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53769-B2C5-4CD7-8D67-F6E5E1F6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098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SPAM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50B48-0AF1-4349-A8A2-28425879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994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Главная идея: модель сравнивает классы, а не пытается восстановить точную вероятность мира.</a:t>
            </a:r>
          </a:p>
        </p:txBody>
      </p:sp>
    </p:spTree>
    <p:extLst>
      <p:ext uri="{BB962C8B-B14F-4D97-AF65-F5344CB8AC3E}">
        <p14:creationId xmlns:p14="http://schemas.microsoft.com/office/powerpoint/2010/main" val="1591044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2DBD5-080F-421F-A609-6E51A1F5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E67D8-E854-453F-AE32-3703A327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Теорема Байеса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5AED6-8A98-46F5-83F3-17C83AA5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B24E6-21F2-4E18-9296-85A4CCE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009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4DD7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AA736-D036-4E03-AD95-E8BE41B2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716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3000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rPr>
              <a:t>P(C | X) = P(X | C) × P(C) / P(X)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8A35A-DF1B-47C8-B949-BD82DE3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4DD7E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4DD7E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 i="0">
                <a:solidFill>
                  <a:srgbClr val="4DD7E5"/>
                </a:solidFill>
                <a:latin typeface="Arial Unicode MS"/>
                <a:ea typeface="Arial Unicode MS"/>
                <a:cs typeface="Arial Unicode MS"/>
              </a:rPr>
              <a:t>P(C | 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CA679-7494-4F53-90EE-437BE74E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385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вероятность класса после наблюдения признаков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00AD2-0B14-4264-8E08-9E9DC4CD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rPr>
              <a:t>P(X | 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02A78-914E-40A7-81EF-44B32E41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насколько признаки характерны для класса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640D9-DAFA-4934-9BB6-6E0CBFB8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6C85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6C8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 i="0">
                <a:solidFill>
                  <a:srgbClr val="F6C85F"/>
                </a:solidFill>
                <a:latin typeface="Arial Unicode MS"/>
                <a:ea typeface="Arial Unicode MS"/>
                <a:cs typeface="Arial Unicode MS"/>
              </a:rPr>
              <a:t>P(C)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183AC-2F17-43FF-A69D-8E30D0AF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624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априорная вероятность класса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A000E-B94A-4E9B-8838-36DCAEC2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7B7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7B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 i="0">
                <a:solidFill>
                  <a:srgbClr val="FF7B72"/>
                </a:solidFill>
                <a:latin typeface="Arial Unicode MS"/>
                <a:ea typeface="Arial Unicode MS"/>
                <a:cs typeface="Arial Unicode MS"/>
              </a:rPr>
              <a:t>P(X)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CF821-EDB7-4905-A742-7C77AA2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624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одинаков для всех классов при сравнении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C4571-1666-4A65-8EA1-2782A5D1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89"/>
          </a:bodyPr>
          <a:lstStyle xmlns:a="http://schemas.openxmlformats.org/drawingml/2006/main">
            <a:defPPr algn="ctr">
              <a:defRPr sz="165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При выборе класса знаменатель P(X) можно убрать, потому что он одинаков для всех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1737137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A6317-7FD9-4052-8181-BAEF5748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AE66F-A5AD-4725-A91B-B5A56619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Наивное допущение независимости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2EF74-6073-4C2B-8B82-50D1997A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449C-9190-4F5E-B659-E196D717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После фиксации класса модель считает признаки независимыми.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96CD2-ED1B-4666-AD07-A69A9A38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3A5A8-5EFD-428D-A0B0-F4448FD9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050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2850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rPr>
              <a:t>P(x₁, x₂, …, xₙ | C) ≈ ∏ᵢ₌₁ⁿ P(xᵢ | C)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C75B1-4E38-4EFD-A628-C34A2D55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FF7B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8E1A8-96A7-4CF0-B9BC-6FEF9B4C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052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7B72"/>
                </a:solidFill>
                <a:latin typeface="Arial"/>
                <a:ea typeface="Arial"/>
                <a:cs typeface="Arial"/>
              </a:rPr>
              <a:t>Почему «наивное»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CE008-49A9-4F19-AD29-ADEF236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434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Слова в языке связаны между собой, поэтому независимость фактически нарушена.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963BF-86C9-4E15-BD5B-82E38AC1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E0E29-E2DC-44FD-8412-240EA3C6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052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6EE7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6EE7B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EE7B7"/>
                </a:solidFill>
                <a:latin typeface="Arial"/>
                <a:ea typeface="Arial"/>
                <a:cs typeface="Arial"/>
              </a:rPr>
              <a:t>Почему работает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6D3C6-00DF-4BFC-B84D-E9C9D760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434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>
            <a:def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Для классификации достаточно правильно сравнить оценки классов, даже если сами вероятности неточны.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88A00-5200-46DC-A2B0-6937C8CC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4DD7E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4DD7E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i="0">
                <a:solidFill>
                  <a:srgbClr val="4DD7E5"/>
                </a:solidFill>
                <a:latin typeface="Arial Unicode MS"/>
                <a:ea typeface="Arial Unicode MS"/>
                <a:cs typeface="Arial Unicode MS"/>
              </a:rPr>
              <a:t>На практике считают логарифмы:  score(C) = log P(C) + Σ log P(xᵢ | C)</a:t>
            </a:r>
          </a:p>
        </p:txBody>
      </p:sp>
    </p:spTree>
    <p:extLst>
      <p:ext uri="{BB962C8B-B14F-4D97-AF65-F5344CB8AC3E}">
        <p14:creationId xmlns:p14="http://schemas.microsoft.com/office/powerpoint/2010/main" val="2130665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7D110-2C51-4FFA-A64A-54F29BF9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05CD7-D9CE-41BD-B817-20E92AA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Варианты Naive Bayes и сглаживание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7FDEC-37F4-4CD7-95FF-1542E1A3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51BB7-E42F-492F-B244-EFFCFB5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4E8E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A76FD-4479-4C7F-8CD8-86DE35A6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5735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4E8E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4E8EF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8EF7"/>
                </a:solidFill>
                <a:latin typeface="Arial"/>
                <a:ea typeface="Arial"/>
                <a:cs typeface="Arial"/>
              </a:rPr>
              <a:t>Gaussian NB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CBF20-117E-45C7-A4E2-ECD73909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669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Непрерывные признаки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01D88-3990-453B-B5A3-46D80AA3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Предполагает нормальное распределение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61895-E8CE-4717-8E16-FD96D49A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8EC8F-9649-4024-8292-633D9273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6EE7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6EE7B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6EE7B7"/>
                </a:solidFill>
                <a:latin typeface="Arial"/>
                <a:ea typeface="Arial"/>
                <a:cs typeface="Arial"/>
              </a:rPr>
              <a:t>Multinomial 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B9616-5716-4E8B-A545-04BC4AB3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Частоты и TF-IDF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197E6-CCF1-432B-AA0B-1B8B9549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Стандартный выбор для текста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C7140-054C-4025-A2D0-FCC2CC4A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4A6D6-32CE-442A-8D87-AC136F57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5735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Bernoulli NB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393F3-292A-4B25-A11F-F1954453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669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0 или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80D5B-C610-4C27-A9ED-7A50804C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813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Слово присутствует или отсутствует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7798F-D3F1-4274-8A96-F587C785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Если слово не встречалось в классе, вероятность без сглаживания становится нулевой.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334F9-6A28-4A60-80E3-8A877576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009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EABF6-1C9A-45C1-9298-908B795D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rPr>
              <a:t>P(w | C) = (count(w,C) + 1) / (Σ count(·,C) + |V|)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E383A-3A74-4CB1-9441-05E07B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+1 — сглаживание Лапласа      |V| — размер словаря</a:t>
            </a:r>
          </a:p>
        </p:txBody>
      </p:sp>
    </p:spTree>
    <p:extLst>
      <p:ext uri="{BB962C8B-B14F-4D97-AF65-F5344CB8AC3E}">
        <p14:creationId xmlns:p14="http://schemas.microsoft.com/office/powerpoint/2010/main" val="1414374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19D2D-FF30-4817-95DF-ACB80158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C7901-ECF7-4D28-84BF-B51A813A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Предобработка текста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86C06-6DA7-4187-AABC-EA7332BD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C3E88-7696-4C70-926D-3100048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62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94"/>
          </a:bodyPr>
          <a:lstStyle xmlns:a="http://schemas.openxmlformats.org/drawingml/2006/main">
            <a:defPPr algn="ctr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Цель предобработки: привести разные формы записи к устойчивому набору признаков.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759BB-015C-47AE-87DA-D2B0C9E4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4DD7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BF13B-3F9B-441C-842F-78DF2DE8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09F69-8995-4F13-9369-69B293C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47950"/>
            <a:ext cx="1495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Нижний регистр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A2B3B-4107-4F05-902B-FCF00AF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43125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4E8E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455C0-3AA0-4526-9CE0-2DBF615A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4E8E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4E8E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E8EF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FF149-95BE-4738-98BE-B3B73773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47950"/>
            <a:ext cx="1495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Пунктуация и цифры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52DFF-3BC2-450B-8728-C57E4FCD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143125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F3B52-158F-41B1-9DF6-BB34F485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6EE7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6EE7B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EE7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32FAC-7C1F-4FFC-904D-1E0C8924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1495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Токенизация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EDA4B-D4D3-4077-9D6D-9DE20DE9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43125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78083-10A1-4CFE-997B-F66DBB4D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99F99-E873-4C40-BC3E-B2CAB7EB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47950"/>
            <a:ext cx="1495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Стоп-слова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C83A8-1910-4948-95AA-BC8A9B5A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143125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FF7B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1FA0D-B3D1-438B-9DB7-C4725BC1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7B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EC797-8E10-4608-BEA0-C090BD23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47950"/>
            <a:ext cx="1495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Стемминг / лемматизация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D6DE1-065B-420F-8F47-EBBF3AA2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10382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4DD7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DBB66-4EBE-4B9A-852C-9013CD0F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До:  FREE entry in 2 a wkly comp!!!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C24B1-6517-47D0-B87C-FCAFBCC5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481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После:  free entry wkly comp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F6FC3-4DAB-4AC6-A09E-54F1F4F3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197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Важно: отрицания «не», «not», «don't» нельзя удалять автоматически в задачах тональности.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1230647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73CC7-1994-4F43-ABB7-6066B32C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332B3-93B3-4EE7-8A8E-7DE07588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Bag of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E2D0D-7440-420C-A9C4-6F663C53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00600-961B-41E2-BA58-0AFCA053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Документ становится вектором частот слов. Порядок слов теряется.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16256-D85D-4C16-9402-F171EABA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381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4DD7E5"/>
          </a:solidFill>
          <a:ln xmlns:a="http://schemas.openxmlformats.org/drawingml/2006/main" w="9525">
            <a:solidFill>
              <a:srgbClr val="4DD7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0A275-CC69-48A1-A92F-5DF3B91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07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83D47-6963-4CE4-852B-D85FC9AD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1381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4DD7E5"/>
          </a:solidFill>
          <a:ln xmlns:a="http://schemas.openxmlformats.org/drawingml/2006/main" w="9525">
            <a:solidFill>
              <a:srgbClr val="4DD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C0C8D-937D-41D6-99DA-FC05660A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907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prize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56A56-93FC-42F3-98E3-57AC8BCF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381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4E8E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F0D1D-A1BD-407E-95AF-70A6A225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3FB7D-4724-43EC-B5A3-3856EC00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95500"/>
            <a:ext cx="1381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4E8E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314CA-D6AD-413E-B861-3E3EA4FC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907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DFD3B-5052-4724-8EEC-093CE82B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80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80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«free prize now»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66D5F-6A31-488B-98B0-EB4A13E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rPr>
              <a:t>[ 1, 1, 0, 1 ]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1414D-686C-4C6E-B90F-D3A82FCB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80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800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«meeting now»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D71DB-CEE0-4F71-BFD2-E1610E31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rPr>
              <a:t>[ 0, 0, 1, 1 ]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14CFD-2D32-4B24-9EC8-021774F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FF7B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72B96-0ECA-4C01-AAD9-609AAB17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7B72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F9FDE-83D1-4786-8C5F-65568516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«не хорошо» и «хорошо не» получают одинаковое представление.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509B4-C2A3-4774-A63F-2ECF14C6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Размерность признакового пространства = количество слов в словаре.</a:t>
            </a:r>
          </a:p>
        </p:txBody>
      </p:sp>
    </p:spTree>
    <p:extLst>
      <p:ext uri="{BB962C8B-B14F-4D97-AF65-F5344CB8AC3E}">
        <p14:creationId xmlns:p14="http://schemas.microsoft.com/office/powerpoint/2010/main" val="2063400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664C3-1309-47B1-9AD8-F286CCF6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58C1C-5C99-4734-9C0E-C718A23D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TF-IDF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CF5B4-DA38-40D4-A3DC-8D444B2B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EAC60-7E72-4D88-917B-51A78D6F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TF-IDF повышает вес слов, характерных для конкретного документа, и снижает вес слишком частых слов.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8F037-0A64-4902-AFD0-ED8D0A53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009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4DD7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89104-55E5-4F3F-82E7-21AD85FE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925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2925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 i="0">
                <a:solidFill>
                  <a:srgbClr val="102235"/>
                </a:solidFill>
                <a:latin typeface="Arial Unicode MS"/>
                <a:ea typeface="Arial Unicode MS"/>
                <a:cs typeface="Arial Unicode MS"/>
              </a:rPr>
              <a:t>TF-IDF(t,d) = TF(t,d) × log(N / DF(t))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4D508-AFA8-4161-9631-50B66F1A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 i="0">
                <a:solidFill>
                  <a:srgbClr val="6EE7B7"/>
                </a:solidFill>
                <a:latin typeface="Arial Unicode MS"/>
                <a:ea typeface="Arial Unicode MS"/>
                <a:cs typeface="Arial Unicode MS"/>
              </a:rPr>
              <a:t>TF(t,d)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7B097-107C-4A3E-8C55-663861D5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3038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частота термина t в документе 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04D6B-75FF-4654-894E-6078060B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6C85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6C8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 i="0">
                <a:solidFill>
                  <a:srgbClr val="F6C85F"/>
                </a:solidFill>
                <a:latin typeface="Arial Unicode MS"/>
                <a:ea typeface="Arial Unicode MS"/>
                <a:cs typeface="Arial Unicode MS"/>
              </a:rPr>
              <a:t>DF(t)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16642-E362-41CD-9998-CC3F4B3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305300"/>
            <a:ext cx="3038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число документов, содержащих 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B3BFF-8F96-4D54-BB41-B6AE6DC6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F7B7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F7B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 i="0">
                <a:solidFill>
                  <a:srgbClr val="FF7B72"/>
                </a:solidFill>
                <a:latin typeface="Arial Unicode MS"/>
                <a:ea typeface="Arial Unicode MS"/>
                <a:cs typeface="Arial Unicode MS"/>
              </a:rPr>
              <a:t>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BAF4E-D2BC-445A-8F88-2F3F025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05300"/>
            <a:ext cx="3038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общее число документов в корпусе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904D4-A94F-44BE-954A-7B2F8C69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Редкое специфичное слово получает большой вес. Частое общеупотребительное слово получает малый вес.</a:t>
            </a:r>
          </a:p>
        </p:txBody>
      </p:sp>
    </p:spTree>
    <p:extLst>
      <p:ext uri="{BB962C8B-B14F-4D97-AF65-F5344CB8AC3E}">
        <p14:creationId xmlns:p14="http://schemas.microsoft.com/office/powerpoint/2010/main" val="1833132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E1BD2-FCBE-4DAD-9329-B01B31F0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20383-E718-47C7-9DD0-8C8D319C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Пайплайн без утечки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9B980-894B-43C8-8A3E-728DDA27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5FD56-9D03-47C5-B3B4-990AD741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23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26"/>
          </a:bodyPr>
          <a:lstStyle xmlns:a="http://schemas.openxmlformats.org/drawingml/2006/main">
            <a:defPPr algn="ctr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Векторизатор обучается только на train. Test используется один раз для честной оценки.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5862A-6EBC-46A7-A78F-8C41CB61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DA1E4-0C2E-4AB7-BCCD-B2780C92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489"/>
          </a:bodyPr>
          <a:lstStyle xmlns:a="http://schemas.openxmlformats.org/drawingml/2006/main">
            <a:def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Исходные тексты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28E63-83E1-49DD-BEA1-2B2A0A0D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все сообщения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97254-716E-46F7-8F30-379C6E7F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431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>
            <a:defPPr algn="ctr">
              <a:defRPr sz="28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1E754-3A5D-4B8B-B104-4E61FC92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0C247-392C-4637-9C9B-70B0668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288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Train /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98C67-C1D3-4603-9769-9E4B6993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812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разделение до TF-IDF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F5A79-05FD-42E1-8113-D1AB2DA9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431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>
            <a:defPPr algn="ctr">
              <a:defRPr sz="28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1FF47-1C63-4CFC-8596-D0F4129F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EE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805C6-5A62-49A9-8B45-68449DD0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28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TF-IDF.fit(train)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F67E4-5E5C-4024-A5F9-FB0FC588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812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словарь только из train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06B67-A9E9-485B-9240-82CC502D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>
            <a:defPPr algn="ctr">
              <a:defRPr sz="28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88F5C-7D81-4308-9EE4-DEB6E9B8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840AC-6754-470B-84A5-497D93C1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Multinomial NB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9BC62-FAD4-4718-8610-30FC2A6A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812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обучение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0A79E-150A-446D-A089-FB57858E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857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FF7B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5DF5D-2C3C-4CAF-8666-5F9FD97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91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7B72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C6F2A-5AEC-4AD8-AC72-8A66A4EF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TF-IDF.fit(весь корпус) до train/test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E9FA8-9D95-4C17-9A5F-A7C7737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Так словарь тестовой выборки заранее влияет на обучение и завышает качество.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C9CC5-F655-449F-B3FA-762517C8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В scikit-learn это удобно оформлять через Pipeline.</a:t>
            </a:r>
          </a:p>
        </p:txBody>
      </p:sp>
    </p:spTree>
    <p:extLst>
      <p:ext uri="{BB962C8B-B14F-4D97-AF65-F5344CB8AC3E}">
        <p14:creationId xmlns:p14="http://schemas.microsoft.com/office/powerpoint/2010/main" val="5073804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144D8-9BCD-4A36-898D-3A79DB1E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52298-D403-464E-A35A-21A9BC2E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Итог: главные вопросы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D7D1C-E8DB-4F7A-97D1-0186B0E7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DD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F7BEE-B3E9-4B07-9C21-7D1C1A47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000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4DD7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8C313-46D2-46DA-95BE-C8CAD07E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4DD7E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DD7E5"/>
                </a:solidFill>
                <a:latin typeface="Arial"/>
                <a:ea typeface="Arial"/>
                <a:cs typeface="Arial"/>
              </a:rPr>
              <a:t>Почему Байес?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114D9-A2B7-4B3A-A8FF-A4324FE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452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Сравнивает вероятности классов по наблюдаемым признакам.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8C093-4BE3-48E9-83C3-9BF58DAD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000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B6F39-2198-4C2A-8CF0-A40A8D9A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6EE7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6EE7B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EE7B7"/>
                </a:solidFill>
                <a:latin typeface="Arial"/>
                <a:ea typeface="Arial"/>
                <a:cs typeface="Arial"/>
              </a:rPr>
              <a:t>Почему «наивный»?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A1C85-F523-4294-9888-553F7394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452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Считает признаки независимыми внутри класса.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AC031-8CE8-42F1-852F-E10128F4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5000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3240F-3060-41C4-817B-941D752A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Зачем Лаплас?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9166C-A2E1-4A26-B295-88BC1F6F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452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Не даёт незнакомому слову обнулить всю вероятность.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17D5D-5B5D-4511-85E7-A1E1C3A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5000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FF7B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03A1C-D1E1-4185-8E8D-6A3D8EE5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8137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7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7B72"/>
                </a:solidFill>
                <a:latin typeface="Arial"/>
                <a:ea typeface="Arial"/>
                <a:cs typeface="Arial"/>
              </a:rPr>
              <a:t>BoW или TF-IDF?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D2C72-568B-4275-AD0C-D37F74D5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452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7FBFF"/>
                </a:solidFill>
                <a:latin typeface="Arial"/>
                <a:ea typeface="Arial"/>
                <a:cs typeface="Arial"/>
              </a:rPr>
              <a:t>Выбор проверяют экспериментом на тестовой выборке.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6C07A-1F9A-43DB-AC0C-506B4BEA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34000"/>
            <a:ext cx="923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4DD7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B5F2D-3183-4CA7-8EDB-1EADFF35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959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235"/>
                </a:solidFill>
                <a:latin typeface="Arial"/>
                <a:ea typeface="Arial"/>
                <a:cs typeface="Arial"/>
              </a:rPr>
              <a:t>Главная цепочка: очистка текста → TF-IDF → Multinomial NB → оценка на test</a:t>
            </a:r>
          </a:p>
        </p:txBody>
      </p:sp>
    </p:spTree>
    <p:extLst>
      <p:ext uri="{BB962C8B-B14F-4D97-AF65-F5344CB8AC3E}">
        <p14:creationId xmlns:p14="http://schemas.microsoft.com/office/powerpoint/2010/main" val="1511996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2026-10-14T03:28:31.1040000Z</dcterms:created>
  <dcterms:modified xsi:type="dcterms:W3CDTF">2026-10-14T03:28:31.1040000Z</dcterms:modified>
</coreProperties>
</file>